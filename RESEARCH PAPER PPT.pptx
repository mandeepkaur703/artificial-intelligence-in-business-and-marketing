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1520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.docs.live.net/e5cd7a0fc2f14ddf/Desktop/Downloads/online%5eMshoppers%5eMpurchasing%5eMintention%5eMdataset/online_shoppers_intention.csv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81042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Paper Presentation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in Business &amp; Marketing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Mandeep Kaur Walia (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2210991879)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Shiwali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(2210992334)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Shivam Kumar (2210992312)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Shivam Sharma (2210992316)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 :</a:t>
            </a: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Ms. Simar Virk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is transforming business and marketing operations.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improves efficiency, automation, and customer targeting.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AI-generated marketing content lacks creativity and emotional depth.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compares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AI-driven, Human-led, and Hybrid marketing strategies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is based on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data and marketing datasets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marketing performs best overall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B2204-87CF-E3A7-F713-91E281AD8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05FFAA0D-55DA-46BC-BF96-FB350FEEB68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1900BCC-16CC-7958-C86B-2EB88D60080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DC769B22-E21B-15B9-A508-035D320E3C7E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is widely used in marketing for: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generation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automation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improves efficiency and reduces marketing costs.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over-reliance on AI may reduce creativity and brand uniqueness.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conflict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and creativity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marketing.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studies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AI on marketing performance and creativity</a:t>
            </a:r>
            <a:r>
              <a:rPr lang="en-US" dirty="0"/>
              <a:t>.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041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A2E38-69C5-051C-5C56-32B64447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818BE5B-4EF6-AC38-06E2-7EEA29A3CEA9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2B36F7F-702B-DB5C-3685-37D4A4F6DFB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B28009F-06D1-D1C8-DA91-59AE22D1E102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AI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business and marketing.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AI-driven, Human-led, and Hybrid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marketing strategies.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marketing performance using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and conversion metrics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impact of AI on creativity and brand recall.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effective marketing approach.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170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358FE-284F-51E7-9F2B-7B92704BC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740B535-2101-5B2D-02E0-ED8DA8AD64F0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5DF020D2-30BE-9BFA-3B45-89D8751068D6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94C5B22-EAB6-F5C5-0F1D-15F4BA2FEFA2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studies show AI improves:                                                                                                                                 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targeting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automation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recommendation systems increase customer engagement.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tools are used for automated content generation.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studies also show AI lacks: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intelligence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storytelling </a:t>
            </a:r>
          </a:p>
          <a:p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766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87C1E-7376-4AB3-7C7D-2E9D6C72F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F60001E-03BE-DE43-1431-633EBC5AB118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2281701-9E76-BB82-C892-FE49E3ADB4E2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DB35F327-E6A4-3B1A-A031-B675642F1D9B}"/>
              </a:ext>
            </a:extLst>
          </p:cNvPr>
          <p:cNvSpPr txBox="1"/>
          <p:nvPr/>
        </p:nvSpPr>
        <p:spPr>
          <a:xfrm>
            <a:off x="152640" y="1076692"/>
            <a:ext cx="8838720" cy="535715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is based on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data analysis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include: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reports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datasets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performed between: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marketing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Human-led marketing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marketing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analyzed: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Time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415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59A1A-4C2A-549F-65DD-62A58F8DF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9D2D182-20FE-F6BE-54FA-5DD5C3069E24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64402C0-EA3A-5A57-6280-A7F2BBC1BE1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54057CF9-B060-8F8A-1701-4A7922DD67DF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Online Shoppers Purchasing Intention dataset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analysis shows an average conversion rate of approximately 15.47%, indicating that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customer engagement and interaction metrics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significantly influence purchase decisions. Bounce rates and exit rates were found to negatively correlate with conversion, suggesting that higher engagement leads to higher conversion probability. These behavioral insights support the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importance of personalized and optimized marketing strategies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which are commonly achieved using AI-driven marketing tools.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https://d.docs.live.net/e5cd7a0fc2f14ddf/Desktop/Downloads/online%5eMshoppers%5eMpurchasing%5eMintention%5eMdataset/online_shoppers_intention.csv</a:t>
            </a:r>
            <a:endParaRPr lang="en-US" sz="1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analyze: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engagement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behavior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effectiveness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308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059A3-C196-BB44-B72A-763E4F794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FE29F948-C9BE-139A-3419-08412DA5F87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746DDDB-F911-9235-D805-690123DFAA5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A720240-992A-85D1-98CB-E10BD83A785B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dataset compares AI, Human, and Hybrid marketing directly.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Synthesized Dataset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created.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compiled from: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McKinsey &amp; Company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State of AI (2023), Next in Personalization Report (2021)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Deloitte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State of AI in the Enterprise (2022), AI-Powered Marketing Report (2023)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Salesforce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State of Marketing Report (2023), State of Marketing Report (2022)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HubSpot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State of Marketing Report (2023), Marketing Statistics &amp; Trends Report (2022)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Artificial Intelligence in Marketing – Statistics &amp; Facts (2023), Digital Marketing Performance Statistics (2022)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766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4DB2-44BD-F317-4004-899962C01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C181EC1-A83D-0F82-71E8-2C39E49FC266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Table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8971387-5DFE-EC58-F057-ABBE9D181EC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3D3B11A-110E-C248-5FB7-89A7D6293787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marketing shows the best overall performance</a:t>
            </a:r>
            <a:r>
              <a:rPr lang="en-US" sz="2000" b="1" dirty="0"/>
              <a:t>.</a:t>
            </a:r>
            <a:endParaRPr lang="en-US" sz="2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F9C3444-2862-816E-AFFA-3E73662D6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695635"/>
              </p:ext>
            </p:extLst>
          </p:nvPr>
        </p:nvGraphicFramePr>
        <p:xfrm>
          <a:off x="164008" y="1619480"/>
          <a:ext cx="8815981" cy="4737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41062">
                  <a:extLst>
                    <a:ext uri="{9D8B030D-6E8A-4147-A177-3AD203B41FA5}">
                      <a16:colId xmlns:a16="http://schemas.microsoft.com/office/drawing/2014/main" val="964046995"/>
                    </a:ext>
                  </a:extLst>
                </a:gridCol>
                <a:gridCol w="881349">
                  <a:extLst>
                    <a:ext uri="{9D8B030D-6E8A-4147-A177-3AD203B41FA5}">
                      <a16:colId xmlns:a16="http://schemas.microsoft.com/office/drawing/2014/main" val="643412623"/>
                    </a:ext>
                  </a:extLst>
                </a:gridCol>
                <a:gridCol w="1476261">
                  <a:extLst>
                    <a:ext uri="{9D8B030D-6E8A-4147-A177-3AD203B41FA5}">
                      <a16:colId xmlns:a16="http://schemas.microsoft.com/office/drawing/2014/main" val="1380071771"/>
                    </a:ext>
                  </a:extLst>
                </a:gridCol>
                <a:gridCol w="1355074">
                  <a:extLst>
                    <a:ext uri="{9D8B030D-6E8A-4147-A177-3AD203B41FA5}">
                      <a16:colId xmlns:a16="http://schemas.microsoft.com/office/drawing/2014/main" val="1699525454"/>
                    </a:ext>
                  </a:extLst>
                </a:gridCol>
                <a:gridCol w="958468">
                  <a:extLst>
                    <a:ext uri="{9D8B030D-6E8A-4147-A177-3AD203B41FA5}">
                      <a16:colId xmlns:a16="http://schemas.microsoft.com/office/drawing/2014/main" val="2898221476"/>
                    </a:ext>
                  </a:extLst>
                </a:gridCol>
                <a:gridCol w="1189821">
                  <a:extLst>
                    <a:ext uri="{9D8B030D-6E8A-4147-A177-3AD203B41FA5}">
                      <a16:colId xmlns:a16="http://schemas.microsoft.com/office/drawing/2014/main" val="1959136947"/>
                    </a:ext>
                  </a:extLst>
                </a:gridCol>
                <a:gridCol w="1113946">
                  <a:extLst>
                    <a:ext uri="{9D8B030D-6E8A-4147-A177-3AD203B41FA5}">
                      <a16:colId xmlns:a16="http://schemas.microsoft.com/office/drawing/2014/main" val="867384936"/>
                    </a:ext>
                  </a:extLst>
                </a:gridCol>
              </a:tblGrid>
              <a:tr h="11842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Campaign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923795"/>
                  </a:ext>
                </a:extLst>
              </a:tr>
              <a:tr h="11842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6217385"/>
                  </a:ext>
                </a:extLst>
              </a:tr>
              <a:tr h="11842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Human-Led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156643"/>
                  </a:ext>
                </a:extLst>
              </a:tr>
              <a:tr h="11842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616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099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C2E29-D2F4-E96A-29B9-D91FF341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CF8EC48-AC49-7968-A13B-208B446E8ADC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6D755F2-CD3D-0E1F-A372-74569450B82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7EC85B77-EFF4-5714-91A6-DEED863D6E34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marketing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efficient in terms of time and cost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predictive accuracy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</a:t>
            </a: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emotional and creative impact.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Human-led marketing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</a:t>
            </a: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in creativity, engagement, and brand recall.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marketing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</a:t>
            </a: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overall performance.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strategy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</a:t>
            </a: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balance between efficiency and creativity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success depends on both data accuracy and creativity. </a:t>
            </a:r>
          </a:p>
        </p:txBody>
      </p:sp>
    </p:spTree>
    <p:extLst>
      <p:ext uri="{BB962C8B-B14F-4D97-AF65-F5344CB8AC3E}">
        <p14:creationId xmlns:p14="http://schemas.microsoft.com/office/powerpoint/2010/main" val="3844863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7DA60-8E3F-3B40-BE05-FE9D6FE7E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E092490F-F136-C2E6-21E0-5828A9CF1401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D83AA53-E8B6-3A3C-F842-090BDDC67CB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77C46B4-CD3E-36EE-FCDE-30AB2CE30DE8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improves efficiency, automation, and data-driven decision making.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marketing improves creativity, storytelling, and brand identity.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alone cannot replace human creativity in marketing.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marketing strategy is the most effective approach.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marketing will depend on collaboration between AI and humans.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Artificial Intelligence is transforming business and marketing by improving efficiency, personalization, and analytics. However,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also requires creativity, emotional connection, and brand storytelling, which AI cannot fully replicate.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organizations should adopt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marketing approach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AI is used for data analysis and automation, and humans focus on creativity and strategy. This combination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the most effective marketing performance and represents the future of marketing.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9420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35110</TotalTime>
  <Words>818</Words>
  <Application>Microsoft Office PowerPoint</Application>
  <PresentationFormat>On-screen Show (4:3)</PresentationFormat>
  <Paragraphs>201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Mandeep Kaur</cp:lastModifiedBy>
  <cp:revision>2296</cp:revision>
  <dcterms:created xsi:type="dcterms:W3CDTF">2010-04-09T07:36:15Z</dcterms:created>
  <dcterms:modified xsi:type="dcterms:W3CDTF">2026-03-22T12:34:55Z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